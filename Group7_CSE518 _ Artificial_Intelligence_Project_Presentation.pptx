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Helvetica Neue"/>
      <p:regular r:id="rId11"/>
      <p:bold r:id="rId12"/>
      <p:italic r:id="rId13"/>
      <p:boldItalic r:id="rId14"/>
    </p:embeddedFont>
    <p:embeddedFont>
      <p:font typeface="Helvetica Neue Ligh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3580B5-C894-4453-9921-11DB95BDA9D8}">
  <a:tblStyle styleId="{983580B5-C894-4453-9921-11DB95BDA9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regular.fntdata"/><Relationship Id="rId10" Type="http://schemas.openxmlformats.org/officeDocument/2006/relationships/slide" Target="slides/slide5.xml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Light-regular.fntdata"/><Relationship Id="rId14" Type="http://schemas.openxmlformats.org/officeDocument/2006/relationships/font" Target="fonts/HelveticaNeue-boldItalic.fntdata"/><Relationship Id="rId17" Type="http://schemas.openxmlformats.org/officeDocument/2006/relationships/font" Target="fonts/HelveticaNeueLight-italic.fntdata"/><Relationship Id="rId16" Type="http://schemas.openxmlformats.org/officeDocument/2006/relationships/font" Target="fonts/HelveticaNeue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HelveticaNeue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657399f91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8657399f91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657399f91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8657399f91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657399f91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8657399f91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1.gif"/><Relationship Id="rId5" Type="http://schemas.openxmlformats.org/officeDocument/2006/relationships/image" Target="../media/image10.gif"/><Relationship Id="rId6" Type="http://schemas.openxmlformats.org/officeDocument/2006/relationships/image" Target="../media/image7.gif"/><Relationship Id="rId7" Type="http://schemas.openxmlformats.org/officeDocument/2006/relationships/image" Target="../media/image5.gif"/><Relationship Id="rId8" Type="http://schemas.openxmlformats.org/officeDocument/2006/relationships/image" Target="../media/image9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drive/folders/1GjR4ZvbZvfPD6Uq2oxoaqC9KZM-58EWL" TargetMode="External"/><Relationship Id="rId4" Type="http://schemas.openxmlformats.org/officeDocument/2006/relationships/hyperlink" Target="https://drive.google.com/drive/folders/1GjR4ZvbZvfPD6Uq2oxoaqC9KZM-58EW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838200" y="3142308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</a:pPr>
            <a:r>
              <a:rPr lang="en-US" sz="4400"/>
              <a:t>CSE518 : Artificial Intelligence Project 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/>
          </a:p>
        </p:txBody>
      </p:sp>
      <p:sp>
        <p:nvSpPr>
          <p:cNvPr id="89" name="Google Shape;89;p13"/>
          <p:cNvSpPr txBox="1"/>
          <p:nvPr/>
        </p:nvSpPr>
        <p:spPr>
          <a:xfrm>
            <a:off x="2184000" y="4830350"/>
            <a:ext cx="78240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7</a:t>
            </a:r>
            <a:endParaRPr b="1" sz="24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Nitant Jain (AU2340198)</a:t>
            </a:r>
            <a:endParaRPr b="1" sz="24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Even Patel (AU2340241)</a:t>
            </a:r>
            <a:endParaRPr b="1" sz="24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685875" y="4012875"/>
            <a:ext cx="70065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Professor</a:t>
            </a:r>
            <a:r>
              <a:rPr b="1" lang="en-US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Shashi Prabh</a:t>
            </a:r>
            <a:endParaRPr b="1"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1283400" y="8850"/>
            <a:ext cx="96252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4000">
                <a:solidFill>
                  <a:schemeClr val="dk1"/>
                </a:solidFill>
              </a:rPr>
              <a:t>Formulation</a:t>
            </a:r>
            <a:r>
              <a:rPr lang="en-US" sz="4000">
                <a:solidFill>
                  <a:schemeClr val="dk1"/>
                </a:solidFill>
              </a:rPr>
              <a:t> of search problem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714650" y="1112425"/>
            <a:ext cx="10515600" cy="4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)Initial State</a:t>
            </a:r>
            <a:r>
              <a:rPr b="1" lang="en-US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2)Goal State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3)Action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4)Transition Model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</a:rPr>
            </a:b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5) Action Cost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19/11/25</a:t>
            </a:r>
            <a:endParaRPr/>
          </a:p>
        </p:txBody>
      </p:sp>
      <p:pic>
        <p:nvPicPr>
          <p:cNvPr id="99" name="Google Shape;99;p14" title="{&quot;red&quot;:0,&quot;green&quot;:0,&quot;blue&quot;:0,&quot;origURL&quot;:&quot;https://www.codecogs.com/eqnedit.php?latex=%20s_g%20%3D%20%5Clangle%20x_g%2C%5C%3B%20y_g%20%5Crangle%20#0&quot;,&quot;size&quot;:20,&quot;width&quot;:828,&quot;height&quot;:250.86614173228344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3250" y="1668914"/>
            <a:ext cx="152590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title="{&quot;red&quot;:0,&quot;green&quot;:0,&quot;blue&quot;:0,&quot;origURL&quot;:&quot;https://www.codecogs.com/eqnedit.php?latex=%20s_0%20%3D%20%5Clangle%20x_0%2C%5C%3B%20y_0%2C%5C%3B%20b_0%2C%5C%3B%20t_0%20%5Crangle%20#0&quot;,&quot;size&quot;:20,&quot;width&quot;:828,&quot;height&quot;:250.86614173228344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3250" y="1198377"/>
            <a:ext cx="23717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{&quot;red&quot;:0,&quot;green&quot;:0,&quot;blue&quot;:0,&quot;origURL&quot;:&quot;http://www.texrendr.com/?eqn=%0A%5Ctext%7BAction%7D(k_%7Bi%2Cj%7D)%20%3D%20%5C%7B%20%5Ctext%7BMove%5C_North%7D%2C%5C%3B%20%5Ctext%7BMove%5C_South%7D%2C%5C%3B%20%5Ctext%7BMove%5C_East%7D%2C%5C%3B%20%5Ctext%7BMove%5C_West%7D%2C%5C%3B%20%5Ctext%7BStop%7D%2C%5C%3B%20%5Ctext%7BBacktrack%7D%2C%5C%3B%20%5Ctext%7BRecharge%7D%20%5C%7D%0A#0&quot;,&quot;size&quot;:20,&quot;width&quot;:828,&quot;height&quot;:250.86614173228344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6375" y="2619500"/>
            <a:ext cx="9907403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title="{&quot;red&quot;:0,&quot;green&quot;:0,&quot;blue&quot;:0,&quot;origURL&quot;:&quot;http://www.texrendr.com/?eqn=%0A%5Ctext%7BCost%7D(k_%7Bi%2Cj%7D%2C%5C%3B%20%5Ctext%7BMove%7D)%20%3D%20c(%5Ctext%7Bterrain%7D(k_%7Bi%2Cj%7D))%0A#0&quot;,&quot;size&quot;:20,&quot;width&quot;:828,&quot;height&quot;:250.86614173228344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3250" y="5576925"/>
            <a:ext cx="4324624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title="{&quot;red&quot;:0,&quot;green&quot;:0,&quot;blue&quot;:0,&quot;origURL&quot;:&quot;http://www.texrendr.com/?eqn=%0A%5Ctext%7BResult%7D(k_%7Bi%2Cj%7D%2C%5C%3B%20%5Ctext%7BStop%7D)%20%3D%20k_%7Bi%2Cj%7D%0A#0&quot;,&quot;size&quot;:20,&quot;width&quot;:828,&quot;height&quot;:389.62204724409446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6875" y="3578944"/>
            <a:ext cx="290285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title="{&quot;red&quot;:0,&quot;green&quot;:0,&quot;blue&quot;:0,&quot;origURL&quot;:&quot;http://www.texrendr.com/?eqn=%0A%5Ctext%7BResult%7D(k_%7Bi%2Cj%7D%2C%5C%3B%20%5Ctext%7BBacktrack%7D)%20%3D%20k_%7B%5Ctext%7Bsafe%7D%7D%0A#0&quot;,&quot;size&quot;:20,&quot;width&quot;:828,&quot;height&quot;:389.62204724409446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6875" y="3954631"/>
            <a:ext cx="391885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title="{&quot;red&quot;:0,&quot;green&quot;:0,&quot;blue&quot;:0,&quot;origURL&quot;:&quot;http://www.texrendr.com/?eqn=%0A%5Ctext%7BResult%7D(k_%7Bi%2Cj%7D%2C%5C%3B%20%5Ctext%7BRecharge%7D)%20%3D%20%5Clangle%20k_%7Bi%2Cj%7D%2C%5C%3B%20%5Ctext%7Bbattery%7D%3D100%5C%25%20%5Crangle%0A#0&quot;,&quot;size&quot;:20,&quot;width&quot;:828,&quot;height&quot;:389.62204724409446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6875" y="4376994"/>
            <a:ext cx="5805714" cy="280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title="{&quot;red&quot;:0,&quot;green&quot;:0,&quot;blue&quot;:0,&quot;origURL&quot;:&quot;http://www.texrendr.com/?eqn=%0A%5Ctext%7BResult%7D(k_%7Bi%2Cj%7D%2C%5C%3B%20%5Ctext%7BMove%7D(dx%2Cdy))%20%3D%20k_%7Bi%2Bdx%2C%5C%3B%20j%2Bdy%7D%0A#0&quot;,&quot;size&quot;:20,&quot;width&quot;:828,&quot;height&quot;:389.62204724409446}"/>
          <p:cNvPicPr preferRelativeResize="0"/>
          <p:nvPr/>
        </p:nvPicPr>
        <p:blipFill rotWithShape="1">
          <a:blip r:embed="rId10">
            <a:alphaModFix/>
          </a:blip>
          <a:srcRect b="-14" l="0" r="0" t="-46312"/>
          <a:stretch/>
        </p:blipFill>
        <p:spPr>
          <a:xfrm>
            <a:off x="1106875" y="4669516"/>
            <a:ext cx="4826001" cy="4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3124300" y="476300"/>
            <a:ext cx="57117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Reflex Module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                 </a:t>
            </a:r>
            <a:endParaRPr/>
          </a:p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784125" y="949850"/>
            <a:ext cx="10515600" cy="5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2000">
              <a:solidFill>
                <a:srgbClr val="0000FF"/>
              </a:solidFill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19/11/25</a:t>
            </a:r>
            <a:endParaRPr/>
          </a:p>
        </p:txBody>
      </p:sp>
      <p:graphicFrame>
        <p:nvGraphicFramePr>
          <p:cNvPr id="115" name="Google Shape;115;p15"/>
          <p:cNvGraphicFramePr/>
          <p:nvPr/>
        </p:nvGraphicFramePr>
        <p:xfrm>
          <a:off x="1331525" y="108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{983580B5-C894-4453-9921-11DB95BDA9D8}</a:tableStyleId>
              </a:tblPr>
              <a:tblGrid>
                <a:gridCol w="3774325"/>
                <a:gridCol w="2823200"/>
                <a:gridCol w="2823200"/>
              </a:tblGrid>
              <a:tr h="4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Reflex Type</a:t>
                      </a:r>
                      <a:endParaRPr b="1"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b="1"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Actions</a:t>
                      </a:r>
                      <a:endParaRPr b="1"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Obstacle Reflex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Rock tile in next step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Avoid move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Battery Reflex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&lt; 20%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 expansion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Terrain Reflex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cost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Costly move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Obstacle-Aversion Heuristic Reflex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Near Rock obstacle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 penalty to heuristic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6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Recharge Reflex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insufficient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to nearest recharge station or abort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Cliff Reflex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Cliff ahead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Block direction + reroute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6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Hazard Reflex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Hazard at current cell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 → BACKTRACK to last safe cell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6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Trap Reflex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Rover stuck / trap tile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STOP + BACKTRACK + avoid zone</a:t>
                      </a:r>
                      <a:endParaRPr sz="16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582425" y="515125"/>
            <a:ext cx="105156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Path Planning Module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                 </a:t>
            </a:r>
            <a:endParaRPr/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582425" y="965025"/>
            <a:ext cx="10515600" cy="51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675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en-US" sz="6750">
                <a:latin typeface="Arial"/>
                <a:ea typeface="Arial"/>
                <a:cs typeface="Arial"/>
                <a:sym typeface="Arial"/>
              </a:rPr>
              <a:t>1.Base level Planning (Battery Aware A* Function) :</a:t>
            </a:r>
            <a:endParaRPr b="1" sz="67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6750">
                <a:latin typeface="Arial"/>
                <a:ea typeface="Arial"/>
                <a:cs typeface="Arial"/>
                <a:sym typeface="Arial"/>
              </a:rPr>
              <a:t>Objective :</a:t>
            </a:r>
            <a:r>
              <a:rPr lang="en-US" sz="6750">
                <a:latin typeface="Arial"/>
                <a:ea typeface="Arial"/>
                <a:cs typeface="Arial"/>
                <a:sym typeface="Arial"/>
              </a:rPr>
              <a:t> Cheapest path between two points.</a:t>
            </a:r>
            <a:endParaRPr sz="6750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750">
                <a:latin typeface="Arial"/>
                <a:ea typeface="Arial"/>
                <a:cs typeface="Arial"/>
                <a:sym typeface="Arial"/>
              </a:rPr>
              <a:t>It outputs a single safe path from start to the goal.</a:t>
            </a:r>
            <a:endParaRPr sz="6750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750">
                <a:latin typeface="Arial"/>
                <a:ea typeface="Arial"/>
                <a:cs typeface="Arial"/>
                <a:sym typeface="Arial"/>
              </a:rPr>
              <a:t>Works only if </a:t>
            </a:r>
            <a:r>
              <a:rPr b="1" lang="en-US" sz="6750">
                <a:latin typeface="Arial"/>
                <a:ea typeface="Arial"/>
                <a:cs typeface="Arial"/>
                <a:sym typeface="Arial"/>
              </a:rPr>
              <a:t>battery ≥ 20% </a:t>
            </a:r>
            <a:r>
              <a:rPr lang="en-US" sz="6750">
                <a:latin typeface="Arial"/>
                <a:ea typeface="Arial"/>
                <a:cs typeface="Arial"/>
                <a:sym typeface="Arial"/>
              </a:rPr>
              <a:t>for the whole path.</a:t>
            </a:r>
            <a:endParaRPr sz="6750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750">
                <a:latin typeface="Arial"/>
                <a:ea typeface="Arial"/>
                <a:cs typeface="Arial"/>
                <a:sym typeface="Arial"/>
              </a:rPr>
              <a:t>If not reachable, returns failure and calls high-level planner to take recharge stops.</a:t>
            </a:r>
            <a:endParaRPr sz="6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6750"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lang="en-US" sz="6750">
                <a:latin typeface="Arial"/>
                <a:ea typeface="Arial"/>
                <a:cs typeface="Arial"/>
                <a:sym typeface="Arial"/>
              </a:rPr>
              <a:t>2.High level Planning (Plan with Recharges Function : Controller) </a:t>
            </a:r>
            <a:endParaRPr b="1" sz="6750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750">
                <a:latin typeface="Arial"/>
                <a:ea typeface="Arial"/>
                <a:cs typeface="Arial"/>
                <a:sym typeface="Arial"/>
              </a:rPr>
              <a:t>Checks if direct A* to the goal is battery-feasible; otherwise finds reachable recharge stations.</a:t>
            </a:r>
            <a:endParaRPr sz="6750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750">
                <a:latin typeface="Arial"/>
                <a:ea typeface="Arial"/>
                <a:cs typeface="Arial"/>
                <a:sym typeface="Arial"/>
              </a:rPr>
              <a:t>Chooses the recharge station closest to the goal.</a:t>
            </a:r>
            <a:endParaRPr sz="6750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750">
                <a:latin typeface="Arial"/>
                <a:ea typeface="Arial"/>
                <a:cs typeface="Arial"/>
                <a:sym typeface="Arial"/>
              </a:rPr>
              <a:t>Builds a safe multi-segment route: </a:t>
            </a:r>
            <a:r>
              <a:rPr b="1" lang="en-US" sz="6750">
                <a:latin typeface="Arial"/>
                <a:ea typeface="Arial"/>
                <a:cs typeface="Arial"/>
                <a:sym typeface="Arial"/>
              </a:rPr>
              <a:t>Start → RC’s → Goal</a:t>
            </a:r>
            <a:endParaRPr b="1" sz="6750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6750">
                <a:latin typeface="Arial"/>
                <a:ea typeface="Arial"/>
                <a:cs typeface="Arial"/>
                <a:sym typeface="Arial"/>
              </a:rPr>
              <a:t>Rc’s -&gt; Recharge stations</a:t>
            </a:r>
            <a:endParaRPr sz="675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3333"/>
              <a:buFont typeface="Helvetica Neue Light"/>
              <a:buNone/>
            </a:pPr>
            <a:r>
              <a:t/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Helvetica Neue Light"/>
              <a:buNone/>
            </a:pPr>
            <a:r>
              <a:t/>
            </a:r>
            <a:endParaRPr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19/11/25</a:t>
            </a:r>
            <a:endParaRPr/>
          </a:p>
        </p:txBody>
      </p:sp>
      <p:sp>
        <p:nvSpPr>
          <p:cNvPr id="124" name="Google Shape;124;p16"/>
          <p:cNvSpPr txBox="1"/>
          <p:nvPr>
            <p:ph idx="10" type="dt"/>
          </p:nvPr>
        </p:nvSpPr>
        <p:spPr>
          <a:xfrm>
            <a:off x="1924875" y="6284675"/>
            <a:ext cx="36960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solidFill>
                  <a:schemeClr val="dk1"/>
                </a:solidFill>
              </a:rPr>
              <a:t>Flowchart </a:t>
            </a:r>
            <a:r>
              <a:rPr lang="en-US" sz="1800">
                <a:solidFill>
                  <a:schemeClr val="dk1"/>
                </a:solidFill>
              </a:rPr>
              <a:t>Link : </a:t>
            </a:r>
            <a:r>
              <a:rPr lang="en-US" sz="18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star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125" name="Google Shape;125;p16"/>
          <p:cNvSpPr txBox="1"/>
          <p:nvPr>
            <p:ph idx="10" type="dt"/>
          </p:nvPr>
        </p:nvSpPr>
        <p:spPr>
          <a:xfrm>
            <a:off x="5044375" y="6284675"/>
            <a:ext cx="47172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solidFill>
                  <a:schemeClr val="dk1"/>
                </a:solidFill>
              </a:rPr>
              <a:t>Flowchart </a:t>
            </a:r>
            <a:r>
              <a:rPr lang="en-US" sz="1800">
                <a:solidFill>
                  <a:schemeClr val="dk1"/>
                </a:solidFill>
              </a:rPr>
              <a:t>Link : </a:t>
            </a:r>
            <a:r>
              <a:rPr lang="en-US" sz="1800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Plan_with_Recharges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582425" y="-24125"/>
            <a:ext cx="105156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Heuristics</a:t>
            </a:r>
            <a:endParaRPr sz="3000"/>
          </a:p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582425" y="965025"/>
            <a:ext cx="10515600" cy="51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7200">
                <a:latin typeface="Arial"/>
                <a:ea typeface="Arial"/>
                <a:cs typeface="Arial"/>
                <a:sym typeface="Arial"/>
              </a:rPr>
              <a:t>1. Manhattan Distance :</a:t>
            </a:r>
            <a:endParaRPr b="1" sz="72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b="1" lang="en-US" sz="7200">
                <a:latin typeface="Times New Roman"/>
                <a:ea typeface="Times New Roman"/>
                <a:cs typeface="Times New Roman"/>
                <a:sym typeface="Times New Roman"/>
              </a:rPr>
              <a:t>Formula</a:t>
            </a: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: |x1 - x2| + |y1 - y2|</a:t>
            </a:r>
            <a:endParaRPr b="1" sz="7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7200">
                <a:latin typeface="Arial"/>
                <a:ea typeface="Arial"/>
                <a:cs typeface="Arial"/>
                <a:sym typeface="Arial"/>
              </a:rPr>
              <a:t>2. Euclidean Distance :</a:t>
            </a:r>
            <a:endParaRPr b="1" sz="72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lang="en-US" sz="7200">
                <a:latin typeface="Arial"/>
                <a:ea typeface="Arial"/>
                <a:cs typeface="Arial"/>
                <a:sym typeface="Arial"/>
              </a:rPr>
              <a:t>Formula:</a:t>
            </a:r>
            <a:r>
              <a:rPr lang="en-US" sz="7200">
                <a:latin typeface="Arial"/>
                <a:ea typeface="Arial"/>
                <a:cs typeface="Arial"/>
                <a:sym typeface="Arial"/>
              </a:rPr>
              <a:t> √((x₁−x₂)² + (y₁−y₂)²)</a:t>
            </a:r>
            <a:endParaRPr sz="7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7200">
                <a:latin typeface="Arial"/>
                <a:ea typeface="Arial"/>
                <a:cs typeface="Arial"/>
                <a:sym typeface="Arial"/>
              </a:rPr>
              <a:t>3. Terrain Aggressive Heuristic :</a:t>
            </a:r>
            <a:endParaRPr b="1" sz="72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b="1" lang="en-US" sz="7200">
                <a:latin typeface="Times New Roman"/>
                <a:ea typeface="Times New Roman"/>
                <a:cs typeface="Times New Roman"/>
                <a:sym typeface="Times New Roman"/>
              </a:rPr>
              <a:t>Formula :</a:t>
            </a: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 Distance *  (Average terrain cost along the path)</a:t>
            </a:r>
            <a:endParaRPr b="1" sz="7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7200">
                <a:latin typeface="Arial"/>
                <a:ea typeface="Arial"/>
                <a:cs typeface="Arial"/>
                <a:sym typeface="Arial"/>
              </a:rPr>
              <a:t>4. Adaptive Cost Manhattan(H1) :</a:t>
            </a:r>
            <a:endParaRPr b="1" sz="72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b="1" lang="en-US" sz="7200">
                <a:latin typeface="Times New Roman"/>
                <a:ea typeface="Times New Roman"/>
                <a:cs typeface="Times New Roman"/>
                <a:sym typeface="Times New Roman"/>
              </a:rPr>
              <a:t>Formula: </a:t>
            </a: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5.0*(|x1 - x2| + |y1 - y2|)</a:t>
            </a:r>
            <a:endParaRPr b="1" sz="7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7200">
                <a:latin typeface="Arial"/>
                <a:ea typeface="Arial"/>
                <a:cs typeface="Arial"/>
                <a:sym typeface="Arial"/>
              </a:rPr>
              <a:t>5. Obstacle-Aversion (H2) : </a:t>
            </a:r>
            <a:endParaRPr b="1" sz="72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7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7200">
                <a:latin typeface="Times New Roman"/>
                <a:ea typeface="Times New Roman"/>
                <a:cs typeface="Times New Roman"/>
                <a:sym typeface="Times New Roman"/>
              </a:rPr>
              <a:t>Formula:</a:t>
            </a: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 (5.0*Manhattan Distance)+(10 / (Min  distance to rock)²)</a:t>
            </a:r>
            <a:endParaRPr sz="72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3333"/>
              <a:buFont typeface="Helvetica Neue Light"/>
              <a:buNone/>
            </a:pPr>
            <a:r>
              <a:t/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Helvetica Neue Light"/>
              <a:buNone/>
            </a:pPr>
            <a:r>
              <a:t/>
            </a:r>
            <a:endParaRPr sz="2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19/11/25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